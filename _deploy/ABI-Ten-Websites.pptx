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AMERICAN BARBER INSTITUTE  ·  TEN VISIONS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400" b="1">
                <a:solidFill>
                  <a:srgbClr val="F1F3FF"/>
                </a:solidFill>
                <a:latin typeface="Helvetica"/>
              </a:rPr>
              <a:t>One brand.
Ten distinct websites.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058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8B91B8"/>
                </a:solidFill>
                <a:latin typeface="Helvetica"/>
              </a:rPr>
              <a:t>Ten production-ready website concepts for ABI — NYC's only dedicated barber school.
Each with its own visual identity. Built on the same real content. Deployed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0F0FF"/>
                </a:solidFill>
                <a:latin typeface="Helvetica"/>
              </a:rPr>
              <a:t>Mobile-first  ·  SEO + JSON-LD  ·  Multi-page  ·  abi-app-1 → abi-app-10.vercel.app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1F3FF"/>
                </a:solidFill>
                <a:latin typeface="Helvetica"/>
              </a:rPr>
              <a:t>Ten unique deployments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194560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F0FF"/>
                </a:solidFill>
                <a:latin typeface="Helvetic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7860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Neon Blade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6324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Cyberpunk · Neon Blade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70332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00F0FF"/>
                </a:solidFill>
                <a:latin typeface="Helvetica"/>
              </a:rPr>
              <a:t>abi-app-1.vercel.app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92024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C8C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920240"/>
            <a:ext cx="2194560" cy="109728"/>
          </a:xfrm>
          <a:prstGeom prst="rect">
            <a:avLst/>
          </a:prstGeom>
          <a:solidFill>
            <a:srgbClr val="C8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12140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8C9CF"/>
                </a:solidFill>
                <a:latin typeface="Helvetic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57860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Chrome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06324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Liquid Metal · Brutalism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70332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C8C9CF"/>
                </a:solidFill>
                <a:latin typeface="Helvetica"/>
              </a:rPr>
              <a:t>abi-app-2.vercel.app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92024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A2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920240"/>
            <a:ext cx="2194560" cy="109728"/>
          </a:xfrm>
          <a:prstGeom prst="rect">
            <a:avLst/>
          </a:prstGeom>
          <a:solidFill>
            <a:srgbClr val="A2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12140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A285FF"/>
                </a:solidFill>
                <a:latin typeface="Helvetic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57860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Aurora Fade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06324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Light Holographic Shader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70332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A285FF"/>
                </a:solidFill>
                <a:latin typeface="Helvetica"/>
              </a:rPr>
              <a:t>abi-app-3.vercel.app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92024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1920240"/>
            <a:ext cx="2194560" cy="10972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12140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FFAA"/>
                </a:solidFill>
                <a:latin typeface="Helvetic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57860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Midnight HUD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306324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Tactical Sci-Fi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370332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00FFAA"/>
                </a:solidFill>
                <a:latin typeface="Helvetica"/>
              </a:rPr>
              <a:t>abi-app-4.vercel.app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192024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0" y="1920240"/>
            <a:ext cx="219456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212140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Helvetic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57860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Barber Prime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306324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Black + Gold · 3D Pole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370332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Helvetica"/>
              </a:rPr>
              <a:t>abi-app-5.vercel.app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519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FF2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251960"/>
            <a:ext cx="2194560" cy="109728"/>
          </a:xfrm>
          <a:prstGeom prst="rect">
            <a:avLst/>
          </a:prstGeom>
          <a:solidFill>
            <a:srgbClr val="FF2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45312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2BD6"/>
                </a:solidFill>
                <a:latin typeface="Helvetica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91032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Neon Grid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39496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Particle Network · Glitch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603504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2BD6"/>
                </a:solidFill>
                <a:latin typeface="Helvetica"/>
              </a:rPr>
              <a:t>abi-app-6.vercel.app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42519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80360" y="4251960"/>
            <a:ext cx="2194560" cy="1097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44952" y="445312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E8E8E8"/>
                </a:solidFill>
                <a:latin typeface="Helvetica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44952" y="491032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Chrome Liquid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4952" y="539496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Brutalist · Chrome Orb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4952" y="603504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E8E8E8"/>
                </a:solidFill>
                <a:latin typeface="Helvetica"/>
              </a:rPr>
              <a:t>abi-app-7.vercel.app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12080" y="42519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7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12080" y="4251960"/>
            <a:ext cx="2194560" cy="109728"/>
          </a:xfrm>
          <a:prstGeom prst="rect">
            <a:avLst/>
          </a:prstGeom>
          <a:solidFill>
            <a:srgbClr val="7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6672" y="445312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7CE8FF"/>
                </a:solidFill>
                <a:latin typeface="Helvetica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6672" y="491032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Holographic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6672" y="539496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Iridescent Glass · 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6672" y="603504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7CE8FF"/>
                </a:solidFill>
                <a:latin typeface="Helvetica"/>
              </a:rPr>
              <a:t>abi-app-8.vercel.app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42519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CA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4251960"/>
            <a:ext cx="2194560" cy="109728"/>
          </a:xfrm>
          <a:prstGeom prst="rect">
            <a:avLst/>
          </a:prstGeom>
          <a:solidFill>
            <a:srgbClr val="CA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08392" y="445312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CAA15A"/>
                </a:solidFill>
                <a:latin typeface="Helvetica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8392" y="491032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Noir Gold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8392" y="539496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Cinematic Luxe · Spotlight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08392" y="603504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CAA15A"/>
                </a:solidFill>
                <a:latin typeface="Helvetica"/>
              </a:rPr>
              <a:t>abi-app-9.vercel.app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75520" y="4251960"/>
            <a:ext cx="2194560" cy="2194560"/>
          </a:xfrm>
          <a:prstGeom prst="roundRect">
            <a:avLst>
              <a:gd name="adj" fmla="val 8000"/>
            </a:avLst>
          </a:prstGeom>
          <a:solidFill>
            <a:srgbClr val="13161F"/>
          </a:solidFill>
          <a:ln w="9525">
            <a:solidFill>
              <a:srgbClr val="FF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0" y="4251960"/>
            <a:ext cx="2194560" cy="109728"/>
          </a:xfrm>
          <a:prstGeom prst="rect">
            <a:avLst/>
          </a:prstGeom>
          <a:solidFill>
            <a:srgbClr val="FF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40112" y="4453128"/>
            <a:ext cx="186537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5CDC"/>
                </a:solidFill>
                <a:latin typeface="Helvetica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0112" y="4910328"/>
            <a:ext cx="1865376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1F3FF"/>
                </a:solidFill>
                <a:latin typeface="Helvetica"/>
              </a:rPr>
              <a:t>Vapor Retro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40112" y="5394960"/>
            <a:ext cx="1865376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B91B8"/>
                </a:solidFill>
                <a:latin typeface="Helvetica"/>
              </a:rPr>
              <a:t>Synthwave · 3D Grid Sun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0112" y="6035040"/>
            <a:ext cx="1865376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1">
                <a:solidFill>
                  <a:srgbClr val="FF5CDC"/>
                </a:solidFill>
                <a:latin typeface="Helvetica"/>
              </a:rPr>
              <a:t>abi-app-10.vercel.app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CONCEPT 01/10</a:t>
            </a:r>
          </a:p>
        </p:txBody>
      </p:sp>
      <p:pic>
        <p:nvPicPr>
          <p:cNvPr id="6" name="Picture 5" descr="cyberpunk_logo_for_american_barb-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326943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Neon Blade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Cyberpunk · Neon Blade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abi-app-1.vercel.app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Cyberpunk WebGL training experience for the future of barbering.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"Cut Bold. Cut Brave. Cut Now."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8C9CF"/>
                </a:solidFill>
                <a:latin typeface="Helvetica"/>
              </a:rPr>
              <a:t>CONCEPT 02/10</a:t>
            </a:r>
          </a:p>
        </p:txBody>
      </p:sp>
      <p:pic>
        <p:nvPicPr>
          <p:cNvPr id="6" name="Picture 5" descr="american_barber_institute_logo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25958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Chrome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Liquid Metal · Brutalism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C8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abi-app-2.vercel.app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8C9CF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Liquid-metal brutalism for the next generation of master barbers.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8C9CF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"Forge Your Craft. Polish Your Future."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8C9CF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2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A285FF"/>
                </a:solidFill>
                <a:latin typeface="Helvetica"/>
              </a:rPr>
              <a:t>CONCEPT 03/10</a:t>
            </a:r>
          </a:p>
        </p:txBody>
      </p:sp>
      <p:pic>
        <p:nvPicPr>
          <p:cNvPr id="6" name="Picture 5" descr="final-logo.gi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924560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Aurora Fade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Light Holographic Shader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A2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abi-app-3.vercel.app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A285FF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Light, holographic experience for an inspired new barbering career.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A285FF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"Where Light Meets Skill."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A285FF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FAA"/>
                </a:solidFill>
                <a:latin typeface="Helvetica"/>
              </a:rPr>
              <a:t>CONCEPT 04/10</a:t>
            </a:r>
          </a:p>
        </p:txBody>
      </p:sp>
      <p:pic>
        <p:nvPicPr>
          <p:cNvPr id="6" name="Picture 5" descr="abi_monogram_with_acc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25958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Midnight HUD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Tactical Sci-Fi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abi-app-4.vercel.app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FAA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Tactical sci-fi HUD experience — train like the operator you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FAA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"Lock In. Train Sharp. Operate."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00FFAA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Helvetica"/>
              </a:rPr>
              <a:t>CONCEPT 05/10</a:t>
            </a:r>
          </a:p>
        </p:txBody>
      </p:sp>
      <p:pic>
        <p:nvPicPr>
          <p:cNvPr id="6" name="Picture 5" descr="luxury_logo_american_barber_inst-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25958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Barber Prime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Black + Gold · 3D Pole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abi-app-5.vercel.app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Black and gold luxury barbering — the prime cut of barber schools in NYC.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"Prime Craft. Prime Career."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2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2BD6"/>
                </a:solidFill>
                <a:latin typeface="Helvetica"/>
              </a:rPr>
              <a:t>CONCEPT 06/10</a:t>
            </a:r>
          </a:p>
        </p:txBody>
      </p:sp>
      <p:pic>
        <p:nvPicPr>
          <p:cNvPr id="6" name="Picture 5" descr="barber_pole_circuit_ic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Neon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Particle Network · Glitch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2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abi-app-6.vercel.app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2BD6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Particle-network barbering education — learn the craft on a digital floor.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2BD6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"On The Grid. On Your Grind."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2BD6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E8E8E8"/>
                </a:solidFill>
                <a:latin typeface="Helvetica"/>
              </a:rPr>
              <a:t>CONCEPT 07/10</a:t>
            </a:r>
          </a:p>
        </p:txBody>
      </p:sp>
      <p:pic>
        <p:nvPicPr>
          <p:cNvPr id="6" name="Picture 5" descr="logo_for_american_barber_institute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Chrome Liquid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Brutalist · Chrome Orb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abi-app-7.vercel.app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E8E8E8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Brutalist chrome experience for the bold barber-in-training.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E8E8E8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"Pure Form. Pure Skill."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E8E8E8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7CE8FF"/>
                </a:solidFill>
                <a:latin typeface="Helvetica"/>
              </a:rPr>
              <a:t>CONCEPT 08/10</a:t>
            </a:r>
          </a:p>
        </p:txBody>
      </p:sp>
      <p:pic>
        <p:nvPicPr>
          <p:cNvPr id="6" name="Picture 5" descr="abi_crest_logo_de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Holographic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Iridescent Glass · 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abi-app-8.vercel.app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7CE8FF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Iridescent, holographic barber experience — see your future through every fade.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7CE8FF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"Iridescent. Inspired. In Demand."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7CE8FF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A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AA15A"/>
                </a:solidFill>
                <a:latin typeface="Helvetica"/>
              </a:rPr>
              <a:t>CONCEPT 09/10</a:t>
            </a:r>
          </a:p>
        </p:txBody>
      </p:sp>
      <p:pic>
        <p:nvPicPr>
          <p:cNvPr id="6" name="Picture 5" descr="luxury_mobile_splash_screen_ab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326943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Noir 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Cinematic Luxe · Spotlight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CA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abi-app-9.vercel.app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AA15A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Cinematic noir + gold luxe experience — barbering as cinema.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AA15A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"Cinematic. Confident. Cut."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CAA15A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5CDC"/>
                </a:solidFill>
                <a:latin typeface="Helvetica"/>
              </a:rPr>
              <a:t>CONCEPT 10/10</a:t>
            </a:r>
          </a:p>
        </p:txBody>
      </p:sp>
      <p:pic>
        <p:nvPicPr>
          <p:cNvPr id="6" name="Picture 5" descr="futuristic_wordmark_logo_america-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425958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0"/>
            <a:ext cx="3657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600" b="1">
                <a:solidFill>
                  <a:srgbClr val="F1F3FF"/>
                </a:solidFill>
                <a:latin typeface="Helvetica"/>
              </a:rPr>
              <a:t>Vapor Retro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Synthwave · 3D Grid Sun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0350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3291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A0C12"/>
                </a:solidFill>
                <a:latin typeface="Helvetica"/>
              </a:rPr>
              <a:t>abi-app-10.vercel.app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5CDC"/>
                </a:solidFill>
                <a:latin typeface="Helvetica"/>
              </a:rPr>
              <a:t>Concept signature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68580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1F3FF"/>
                </a:solidFill>
                <a:latin typeface="Helvetica"/>
              </a:rPr>
              <a:t>Synthwave retro experience for the barber who wants to stand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5CDC"/>
                </a:solidFill>
                <a:latin typeface="Helvetica"/>
              </a:rPr>
              <a:t>Tagline variant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17520"/>
            <a:ext cx="68580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F1F3FF"/>
                </a:solidFill>
                <a:latin typeface="Helvetica"/>
              </a:rPr>
              <a:t>"Old-School Soul. New-Wave Cuts."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5CDC"/>
                </a:solidFill>
                <a:latin typeface="Helvetica"/>
              </a:rPr>
              <a:t>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60520"/>
            <a:ext cx="68580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8B91B8"/>
                </a:solidFill>
                <a:latin typeface="Helvetica"/>
              </a:rPr>
              <a:t>•  Home — hero, programs, careers, reviews, tuition, locations, FAQ
•  Programs — every program, schedule, tuition plan
•  Gallery — 30+ photos from the clinic floor
•  FAQ — 15 questions with full answers (JSON-LD)
•  Contact — both campuses + lead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035040"/>
            <a:ext cx="6858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8B91B8"/>
                </a:solidFill>
                <a:latin typeface="Helvetica"/>
              </a:rPr>
              <a:t>Mobile-first  •  Hamburger nav  •  SEO meta + OpenGraph  •  Sitemap + robots  •  CDN-backed assets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Helvetica"/>
              </a:rPr>
              <a:t>ALL LIVE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800" b="1">
                <a:solidFill>
                  <a:srgbClr val="F1F3FF"/>
                </a:solidFill>
                <a:latin typeface="Helvetica"/>
              </a:rPr>
              <a:t>Ten sites. One naming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8B91B8"/>
                </a:solidFill>
                <a:latin typeface="Helvetica"/>
              </a:rPr>
              <a:t>abi-app-N.vercel.app — change N from 1 to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00F0FF"/>
                </a:solidFill>
                <a:latin typeface="Helvetica"/>
              </a:rPr>
              <a:t>01.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Neon Blade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0F0FF"/>
                </a:solidFill>
                <a:latin typeface="Helvetica"/>
              </a:rPr>
              <a:t>https://abi-app-1.vercel.app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C8C9CF"/>
                </a:solidFill>
                <a:latin typeface="Helvetica"/>
              </a:rPr>
              <a:t>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Chrome 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8C9CF"/>
                </a:solidFill>
                <a:latin typeface="Helvetica"/>
              </a:rPr>
              <a:t>https://abi-app-2.vercel.app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A285FF"/>
                </a:solidFill>
                <a:latin typeface="Helvetica"/>
              </a:rPr>
              <a:t>03.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4048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Aurora Fade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3308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A285FF"/>
                </a:solidFill>
                <a:latin typeface="Helvetica"/>
              </a:rPr>
              <a:t>https://abi-app-3.vercel.app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59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00FFAA"/>
                </a:solidFill>
                <a:latin typeface="Helvetica"/>
              </a:rPr>
              <a:t>04.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80559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Midnight HUD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3167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0FFAA"/>
                </a:solidFill>
                <a:latin typeface="Helvetica"/>
              </a:rPr>
              <a:t>https://abi-app-4.vercel.app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Helvetica"/>
              </a:rPr>
              <a:t>05.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206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Barber Prime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41324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4AF37"/>
                </a:solidFill>
                <a:latin typeface="Helvetica"/>
              </a:rPr>
              <a:t>https://abi-app-5.vercel.app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2BD6"/>
                </a:solidFill>
                <a:latin typeface="Helvetica"/>
              </a:rPr>
              <a:t>06.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5603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Neon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85292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FF2BD6"/>
                </a:solidFill>
                <a:latin typeface="Helvetica"/>
              </a:rPr>
              <a:t>https://abi-app-6.vercel.app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E8E8E8"/>
                </a:solidFill>
                <a:latin typeface="Helvetica"/>
              </a:rPr>
              <a:t>07.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2004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Chrome Liquid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300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8E8E8"/>
                </a:solidFill>
                <a:latin typeface="Helvetica"/>
              </a:rPr>
              <a:t>https://abi-app-7.vercel.app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7CE8FF"/>
                </a:solidFill>
                <a:latin typeface="Helvetica"/>
              </a:rPr>
              <a:t>08.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84048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Holographic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13308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7CE8FF"/>
                </a:solidFill>
                <a:latin typeface="Helvetica"/>
              </a:rPr>
              <a:t>https://abi-app-8.vercel.app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80559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CAA15A"/>
                </a:solidFill>
                <a:latin typeface="Helvetica"/>
              </a:rPr>
              <a:t>09.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480559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Noir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73167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AA15A"/>
                </a:solidFill>
                <a:latin typeface="Helvetica"/>
              </a:rPr>
              <a:t>https://abi-app-9.vercel.app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457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5CDC"/>
                </a:solidFill>
                <a:latin typeface="Helvetica"/>
              </a:rPr>
              <a:t>10.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1206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1F3FF"/>
                </a:solidFill>
                <a:latin typeface="Helvetica"/>
              </a:rPr>
              <a:t>Vapor Retro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413248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FF5CDC"/>
                </a:solidFill>
                <a:latin typeface="Helvetica"/>
              </a:rPr>
              <a:t>https://abi-app-10.vercel.app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8B91B8"/>
                </a:solidFill>
                <a:latin typeface="Helvetica"/>
              </a:rPr>
              <a:t>Repo: github.com/kazi-reprime/ABI-10-Websites   ·   Assets CDN: abi-assets.vercel.app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